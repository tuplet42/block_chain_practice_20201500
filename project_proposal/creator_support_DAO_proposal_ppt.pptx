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73" r:id="rId1"/>
  </p:sldMasterIdLst>
  <p:sldIdLst>
    <p:sldId id="260" r:id="rId2"/>
    <p:sldId id="257" r:id="rId3"/>
    <p:sldId id="282" r:id="rId4"/>
    <p:sldId id="277" r:id="rId5"/>
    <p:sldId id="269" r:id="rId6"/>
    <p:sldId id="280" r:id="rId7"/>
    <p:sldId id="281" r:id="rId8"/>
    <p:sldId id="261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1A66EDD-3DAB-4C5B-A090-DC80EC1FD486}" styleName="Normal Style 1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1988" y="632"/>
      </p:cViewPr>
      <p:guideLst>
        <p:guide orient="horz" pos="2157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presProps" Target="presProps.xml"  /><Relationship Id="rId11" Type="http://schemas.openxmlformats.org/officeDocument/2006/relationships/viewProps" Target="viewProps.xml"  /><Relationship Id="rId12" Type="http://schemas.openxmlformats.org/officeDocument/2006/relationships/theme" Target="theme/theme1.xml"  /><Relationship Id="rId13" Type="http://schemas.openxmlformats.org/officeDocument/2006/relationships/tableStyles" Target="tableStyles.xml"  /><Relationship Id="rId2" Type="http://schemas.openxmlformats.org/officeDocument/2006/relationships/slide" Target="slides/slide1.xml"  /><Relationship Id="rId3" Type="http://schemas.openxmlformats.org/officeDocument/2006/relationships/slide" Target="slides/slide2.xml"  /><Relationship Id="rId4" Type="http://schemas.openxmlformats.org/officeDocument/2006/relationships/slide" Target="slides/slide3.xml"  /><Relationship Id="rId5" Type="http://schemas.openxmlformats.org/officeDocument/2006/relationships/slide" Target="slides/slide4.xml"  /><Relationship Id="rId6" Type="http://schemas.openxmlformats.org/officeDocument/2006/relationships/slide" Target="slides/slide5.xml"  /><Relationship Id="rId7" Type="http://schemas.openxmlformats.org/officeDocument/2006/relationships/slide" Target="slides/slide6.xml"  /><Relationship Id="rId8" Type="http://schemas.openxmlformats.org/officeDocument/2006/relationships/slide" Target="slides/slide7.xml"  /><Relationship Id="rId9" Type="http://schemas.openxmlformats.org/officeDocument/2006/relationships/slide" Target="slides/slide8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0DBE4C-6AB6-4BA2-57FC-DAA548B1B5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4BD71E1-485B-5A3F-6BFD-901DD9975F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D4F3470-ED75-1FCE-400A-CE4FD15A2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F6A0F-3B97-4D8F-957A-977AD0ADBB82}" type="datetimeFigureOut">
              <a:rPr lang="ko-KR" altLang="en-US" smtClean="0"/>
              <a:t>2022-05-14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9EDB440-E2F2-A3AD-EAE3-8D2CAC361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20AD203-252F-3B44-826A-D97DA0730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F0D16-DE91-49B5-A029-D44BD88A4D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6529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E635A8-239B-AF02-1BD0-F11A92F8F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38CEC23-52EB-9C6D-1837-F5CB942E8D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BE33D75-5DA6-1B48-E245-8E3857A64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F6A0F-3B97-4D8F-957A-977AD0ADBB82}" type="datetimeFigureOut">
              <a:rPr lang="ko-KR" altLang="en-US" smtClean="0"/>
              <a:t>2022-05-14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E05C966-478A-EB11-4FCD-A00BF979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B2E2233-5BE8-DE57-FE65-B8D2D6E3C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F0D16-DE91-49B5-A029-D44BD88A4D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84045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0C84C5-5CE2-2708-C895-634D7E17A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E01B3B8-18F1-8FF8-0468-798D2572F9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EF6B78E-90C5-518E-37C9-F7A5E334A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F6A0F-3B97-4D8F-957A-977AD0ADBB82}" type="datetimeFigureOut">
              <a:rPr lang="ko-KR" altLang="en-US" smtClean="0"/>
              <a:t>2022-05-14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3A64458-618B-26A3-68FF-4E112BF12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C3CEB34-0AF1-4011-9376-0E8AF163E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F0D16-DE91-49B5-A029-D44BD88A4D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67421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6B325C-C04C-CED1-CA15-507D66325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6A14FBF-5C46-0405-1125-2A926B3F02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8F5BC3C-CD15-2944-A191-E13B9C0C03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67167CC-9991-E8C9-84DA-190F0C44E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F6A0F-3B97-4D8F-957A-977AD0ADBB82}" type="datetimeFigureOut">
              <a:rPr lang="ko-KR" altLang="en-US" smtClean="0"/>
              <a:t>2022-05-14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5A0C366-6D15-B0CF-CB9D-BDDF1E9F1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0DE4103-0B93-E186-CE02-1ED164D84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F0D16-DE91-49B5-A029-D44BD88A4D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70482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276AD1-979E-402F-E9F1-5A3ECDBE9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D8870D1-2DAE-DC06-4FA8-0D3B61D58F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7EDA8C3-91DD-F2D3-0E49-598CEB4976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F7E78C7-595E-BE56-4D77-81FC142196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568ABE3-4069-9FF3-C6F8-3EA08D234A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72955B4-8C2B-C888-4268-ADE80685B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F6A0F-3B97-4D8F-957A-977AD0ADBB82}" type="datetimeFigureOut">
              <a:rPr lang="ko-KR" altLang="en-US" smtClean="0"/>
              <a:t>2022-05-14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6AB6CE3-0E3C-A1A1-AA0E-03E96E6F3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EFEB185-C8CA-042E-E1B7-4B98AB77E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F0D16-DE91-49B5-A029-D44BD88A4D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3649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4D0620-B5AB-83D3-52D3-2F409BD94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1C68FB4-81E1-E60C-DC76-089908007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F6A0F-3B97-4D8F-957A-977AD0ADBB82}" type="datetimeFigureOut">
              <a:rPr lang="ko-KR" altLang="en-US" smtClean="0"/>
              <a:t>2022-05-14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C0E8393-4389-0536-FFF8-C97A36FC3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2DF9DD9-583A-C280-CC96-5F83BEA0D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F0D16-DE91-49B5-A029-D44BD88A4D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1155816"/>
      </p:ext>
    </p:extLst>
  </p:cSld>
  <p:clrMapOvr>
    <a:masterClrMapping/>
  </p:clrMapOvr>
</p:sldLayout>
</file>

<file path=ppt/slideLayouts/slideLayout7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빈 화면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D81F6A0F-3B97-4D8F-957A-977AD0ADBB82}" type="datetime1">
              <a:rPr lang="ko-KR" altLang="en-US"/>
              <a:pPr lvl="0">
                <a:defRPr/>
              </a:pPr>
              <a:t>2026-05-18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98F0D16-DE91-49B5-A029-D44BD88A4D70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CE1F8B1-FE97-EBDD-586C-427AC770AA06}"/>
              </a:ext>
            </a:extLst>
          </p:cNvPr>
          <p:cNvSpPr txBox="1"/>
          <p:nvPr userDrawn="1"/>
        </p:nvSpPr>
        <p:spPr>
          <a:xfrm>
            <a:off x="9987228" y="6586181"/>
            <a:ext cx="21948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ⓒSaebyeol Yu.</a:t>
            </a:r>
            <a:r>
              <a:rPr lang="ko-KR" altLang="en-US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9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Saebyeol’s</a:t>
            </a:r>
            <a:r>
              <a:rPr lang="ko-KR" altLang="en-US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PowerPoint</a:t>
            </a:r>
            <a:endParaRPr lang="ko-KR" altLang="en-US" sz="9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0A14D8B-51E1-F074-3EA5-355980A34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F6A0F-3B97-4D8F-957A-977AD0ADBB82}" type="datetimeFigureOut">
              <a:rPr lang="ko-KR" altLang="en-US" smtClean="0"/>
              <a:t>2022-05-14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2BE1A9C-5DA1-0E03-470E-5084EB488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206011-375F-0349-6281-DF92B5717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F0D16-DE91-49B5-A029-D44BD88A4D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91544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7DFC04-71E8-CE79-C70A-969F15B4F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D6D804F-014B-F5DB-06B1-6931CC231C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31CB576-98E5-D082-9FDA-7188A503A0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21AEBDA-89D8-E4DD-252A-2C2B7EA7C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F6A0F-3B97-4D8F-957A-977AD0ADBB82}" type="datetimeFigureOut">
              <a:rPr lang="ko-KR" altLang="en-US" smtClean="0"/>
              <a:t>2022-05-14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6FC1B2A-0F3A-CCC3-CFF4-0667D0195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E8FA124-8081-9889-3E89-EAF00E8C7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F0D16-DE91-49B5-A029-D44BD88A4D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07691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6584F8-4D17-47BF-D4CC-8888B16AD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E109540-7630-B9D2-59C0-B8FAB9B023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B5FBB7B-3747-2429-2914-FA4A66E43B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1591B34-194E-5CD2-3780-134C04FE5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F6A0F-3B97-4D8F-957A-977AD0ADBB82}" type="datetimeFigureOut">
              <a:rPr lang="ko-KR" altLang="en-US" smtClean="0"/>
              <a:t>2022-05-14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6A79E2D-9A11-7D77-45A7-3ABFFCF68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C83C160-2ED1-7E77-5607-F4D218322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F0D16-DE91-49B5-A029-D44BD88A4D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78327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157D39-EE8C-8E9A-B4A8-6FAC292DD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F8CC399-EA96-04FA-9607-A3EB8F9817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8C4135-1F23-6958-4EAF-69B463F24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F6A0F-3B97-4D8F-957A-977AD0ADBB82}" type="datetimeFigureOut">
              <a:rPr lang="ko-KR" altLang="en-US" smtClean="0"/>
              <a:t>2022-05-14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5FD826D-9F31-BE1A-50B0-4789C77C0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771AA0A-E658-C628-177F-C5854C526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F0D16-DE91-49B5-A029-D44BD88A4D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5017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19FB527-B31C-BAA1-6530-3485395A98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A33E080-4B0B-2411-780B-ABCB9D6AEC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377F8BB-E7F2-2856-C0AD-FD9836A66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F6A0F-3B97-4D8F-957A-977AD0ADBB82}" type="datetimeFigureOut">
              <a:rPr lang="ko-KR" altLang="en-US" smtClean="0"/>
              <a:t>2022-05-14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FA0D645-8DBA-26F1-14BA-A3FBA0A98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E7500E0-7D34-6A87-39BF-A960B573E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F0D16-DE91-49B5-A029-D44BD88A4D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6273101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slideLayout" Target="../slideLayouts/slideLayout12.xml"  /><Relationship Id="rId13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B57034A-7644-C986-9AB7-1881E867E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1A744D4-17D8-0666-66EC-9368DD65FD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1844947-220B-A9D8-71B8-AE97F4F31A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F6A0F-3B97-4D8F-957A-977AD0ADBB82}" type="datetimeFigureOut">
              <a:rPr lang="ko-KR" altLang="en-US" smtClean="0"/>
              <a:t>2022-05-14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17D3C01-4B9B-3D7B-D06B-9E317A8DEF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D122AF7-5B72-5003-E0B6-54EF57E067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8F0D16-DE91-49B5-A029-D44BD88A4D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17583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jpe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3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4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5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6.jpe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87805" y="3044278"/>
            <a:ext cx="6101676" cy="754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4400" b="1">
                <a:solidFill>
                  <a:schemeClr val="bg1"/>
                </a:solidFill>
              </a:rPr>
              <a:t>Creator Suppot DAO</a:t>
            </a:r>
            <a:endParaRPr lang="en-US" altLang="ko-KR" sz="4400" b="1">
              <a:solidFill>
                <a:schemeClr val="bg1"/>
              </a:solidFill>
            </a:endParaRPr>
          </a:p>
        </p:txBody>
      </p:sp>
      <p:sp>
        <p:nvSpPr>
          <p:cNvPr id="7" name="TextBox 22"/>
          <p:cNvSpPr txBox="1"/>
          <p:nvPr/>
        </p:nvSpPr>
        <p:spPr>
          <a:xfrm>
            <a:off x="8449354" y="5856566"/>
            <a:ext cx="3742646" cy="1001433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marL="0" indent="0" algn="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2000" b="0" i="0" u="none" strike="noStrike" kern="1200" cap="none" spc="0" normalizeH="0" baseline="0" mc:Ignorable="hp" hp:hslEmbossed="0">
                <a:solidFill>
                  <a:srgbClr val="ffffff"/>
                </a:solidFill>
                <a:latin typeface="Arial"/>
                <a:cs typeface="Arial"/>
              </a:rPr>
              <a:t>전자공학부</a:t>
            </a:r>
            <a:endParaRPr xmlns:mc="http://schemas.openxmlformats.org/markup-compatibility/2006" xmlns:hp="http://schemas.haansoft.com/office/presentation/8.0" kumimoji="0" lang="en-US" altLang="ko-KR" sz="2000" b="0" i="0" u="none" strike="noStrike" kern="1200" cap="none" spc="0" normalizeH="0" baseline="0" mc:Ignorable="hp" hp:hslEmbossed="0">
              <a:solidFill>
                <a:srgbClr val="ffffff"/>
              </a:solidFill>
              <a:latin typeface="Arial"/>
              <a:cs typeface="Arial"/>
            </a:endParaRPr>
          </a:p>
          <a:p>
            <a:pPr marL="0" indent="0" algn="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2000" b="0" i="0" u="none" strike="noStrike" kern="1200" cap="none" spc="0" normalizeH="0" baseline="0" mc:Ignorable="hp" hp:hslEmbossed="0">
                <a:solidFill>
                  <a:srgbClr val="ffffff"/>
                </a:solidFill>
                <a:latin typeface="Arial"/>
                <a:cs typeface="Arial"/>
              </a:rPr>
              <a:t>지능형</a:t>
            </a:r>
            <a:r>
              <a:rPr xmlns:mc="http://schemas.openxmlformats.org/markup-compatibility/2006" xmlns:hp="http://schemas.haansoft.com/office/presentation/8.0" kumimoji="0" lang="en-US" altLang="ko-KR" sz="2000" b="0" i="0" u="none" strike="noStrike" kern="1200" cap="none" spc="0" normalizeH="0" baseline="0" mc:Ignorable="hp" hp:hslEmbossed="0">
                <a:solidFill>
                  <a:srgbClr val="ffffff"/>
                </a:solidFill>
                <a:latin typeface="Arial"/>
                <a:cs typeface="Arial"/>
              </a:rPr>
              <a:t>ICT</a:t>
            </a:r>
            <a:r>
              <a:rPr xmlns:mc="http://schemas.openxmlformats.org/markup-compatibility/2006" xmlns:hp="http://schemas.haansoft.com/office/presentation/8.0" kumimoji="0" lang="ko-KR" altLang="en-US" sz="2000" b="0" i="0" u="none" strike="noStrike" kern="1200" cap="none" spc="0" normalizeH="0" baseline="0" mc:Ignorable="hp" hp:hslEmbossed="0">
                <a:solidFill>
                  <a:srgbClr val="ffffff"/>
                </a:solidFill>
                <a:latin typeface="Arial"/>
                <a:cs typeface="Arial"/>
              </a:rPr>
              <a:t>융합전공</a:t>
            </a:r>
            <a:endParaRPr xmlns:mc="http://schemas.openxmlformats.org/markup-compatibility/2006" xmlns:hp="http://schemas.haansoft.com/office/presentation/8.0" kumimoji="0" lang="en-US" altLang="ko-KR" sz="2000" b="0" i="0" u="none" strike="noStrike" kern="1200" cap="none" spc="0" normalizeH="0" baseline="0" mc:Ignorable="hp" hp:hslEmbossed="0">
              <a:solidFill>
                <a:srgbClr val="ffffff"/>
              </a:solidFill>
              <a:latin typeface="Arial"/>
              <a:cs typeface="Arial"/>
            </a:endParaRPr>
          </a:p>
          <a:p>
            <a:pPr marL="0" indent="0" algn="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2000" b="0" i="0" u="none" strike="noStrike" kern="1200" cap="none" spc="0" normalizeH="0" baseline="0" mc:Ignorable="hp" hp:hslEmbossed="0">
                <a:solidFill>
                  <a:srgbClr val="ffffff"/>
                </a:solidFill>
                <a:latin typeface="Arial"/>
                <a:cs typeface="Arial"/>
              </a:rPr>
              <a:t> 20201500</a:t>
            </a:r>
            <a:r>
              <a:rPr xmlns:mc="http://schemas.openxmlformats.org/markup-compatibility/2006" xmlns:hp="http://schemas.haansoft.com/office/presentation/8.0" kumimoji="0" lang="ko-KR" altLang="en-US" sz="2000" b="0" i="0" u="none" strike="noStrike" kern="1200" cap="none" spc="0" normalizeH="0" baseline="0" mc:Ignorable="hp" hp:hslEmbossed="0">
                <a:solidFill>
                  <a:srgbClr val="ffffff"/>
                </a:solidFill>
                <a:latin typeface="Arial"/>
                <a:cs typeface="Arial"/>
              </a:rPr>
              <a:t> 최진우</a:t>
            </a:r>
            <a:endParaRPr xmlns:mc="http://schemas.openxmlformats.org/markup-compatibility/2006" xmlns:hp="http://schemas.haansoft.com/office/presentation/8.0" kumimoji="0" lang="ko-KR" altLang="en-US" sz="2000" b="0" i="0" u="none" strike="noStrike" kern="1200" cap="none" spc="0" normalizeH="0" baseline="0" mc:Ignorable="hp" hp:hslEmbossed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9" name="TextBox 22"/>
          <p:cNvSpPr txBox="1"/>
          <p:nvPr/>
        </p:nvSpPr>
        <p:spPr>
          <a:xfrm>
            <a:off x="3085079" y="3763788"/>
            <a:ext cx="5528583" cy="387207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2000" b="0" i="0" u="none" strike="noStrike" kern="1200" cap="none" spc="0" normalizeH="0" baseline="0" mc:Ignorable="hp" hp:hslEmbossed="0">
                <a:solidFill>
                  <a:srgbClr val="ffffff"/>
                </a:solidFill>
                <a:latin typeface="Arial"/>
                <a:cs typeface="Arial"/>
              </a:rPr>
              <a:t>“Buy Me A Coffee”</a:t>
            </a:r>
            <a:r>
              <a:rPr xmlns:mc="http://schemas.openxmlformats.org/markup-compatibility/2006" xmlns:hp="http://schemas.haansoft.com/office/presentation/8.0" kumimoji="0" lang="ko-KR" altLang="en-US" sz="2000" b="0" i="0" u="none" strike="noStrike" kern="1200" cap="none" spc="0" normalizeH="0" baseline="0" mc:Ignorable="hp" hp:hslEmbossed="0">
                <a:solidFill>
                  <a:srgbClr val="ffffff"/>
                </a:solidFill>
                <a:latin typeface="Arial"/>
                <a:cs typeface="Arial"/>
              </a:rPr>
              <a:t>를 넘어선 참여형 후원 플랫폼</a:t>
            </a:r>
            <a:endParaRPr xmlns:mc="http://schemas.openxmlformats.org/markup-compatibility/2006" xmlns:hp="http://schemas.haansoft.com/office/presentation/8.0" kumimoji="0" lang="ko-KR" altLang="en-US" sz="2000" b="0" i="0" u="none" strike="noStrike" kern="1200" cap="none" spc="0" normalizeH="0" baseline="0" mc:Ignorable="hp" hp:hslEmbossed="0">
              <a:solidFill>
                <a:srgbClr val="ffffff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래픽 21" descr="스프링클스와 같은 작은 줄로 채워진 원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-1467999" y="-1413534"/>
            <a:ext cx="3988575" cy="3988575"/>
          </a:xfrm>
          <a:prstGeom prst="rect">
            <a:avLst/>
          </a:prstGeom>
        </p:spPr>
      </p:pic>
      <p:sp>
        <p:nvSpPr>
          <p:cNvPr id="16" name="직사각형 15"/>
          <p:cNvSpPr/>
          <p:nvPr/>
        </p:nvSpPr>
        <p:spPr>
          <a:xfrm>
            <a:off x="363447" y="335362"/>
            <a:ext cx="5732553" cy="57894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469659" y="385528"/>
            <a:ext cx="67839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ko-KR" altLang="en-US" sz="2400" spc="-150">
                <a:solidFill>
                  <a:schemeClr val="bg1"/>
                </a:solidFill>
              </a:rPr>
              <a:t>목차</a:t>
            </a:r>
            <a:endParaRPr lang="ko-KR" altLang="en-US" sz="2400" spc="-15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662406" y="1871175"/>
            <a:ext cx="32893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2400" b="1"/>
              <a:t>1</a:t>
            </a:r>
            <a:endParaRPr lang="ko-KR" altLang="en-US" sz="2400" b="1"/>
          </a:p>
        </p:txBody>
      </p:sp>
      <p:sp>
        <p:nvSpPr>
          <p:cNvPr id="8" name="TextBox 7"/>
          <p:cNvSpPr txBox="1"/>
          <p:nvPr/>
        </p:nvSpPr>
        <p:spPr>
          <a:xfrm>
            <a:off x="2725708" y="1871175"/>
            <a:ext cx="3099782" cy="451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2400" spc="-300"/>
              <a:t>왜 만드는가</a:t>
            </a:r>
            <a:r>
              <a:rPr lang="en-US" altLang="ko-KR" sz="2400" spc="-300"/>
              <a:t>?</a:t>
            </a:r>
            <a:r>
              <a:rPr lang="ko-KR" altLang="en-US" sz="2400" spc="-300"/>
              <a:t> 에 대한 동기</a:t>
            </a:r>
            <a:endParaRPr lang="ko-KR" altLang="en-US" sz="2400" spc="-300"/>
          </a:p>
        </p:txBody>
      </p:sp>
      <p:sp>
        <p:nvSpPr>
          <p:cNvPr id="9" name="TextBox 8"/>
          <p:cNvSpPr txBox="1"/>
          <p:nvPr/>
        </p:nvSpPr>
        <p:spPr>
          <a:xfrm>
            <a:off x="1619124" y="3042050"/>
            <a:ext cx="37221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2400" b="1"/>
              <a:t>2</a:t>
            </a:r>
            <a:endParaRPr lang="ko-KR" altLang="en-US" sz="2400" b="1"/>
          </a:p>
        </p:txBody>
      </p:sp>
      <p:sp>
        <p:nvSpPr>
          <p:cNvPr id="10" name="TextBox 9"/>
          <p:cNvSpPr txBox="1"/>
          <p:nvPr/>
        </p:nvSpPr>
        <p:spPr>
          <a:xfrm>
            <a:off x="2725708" y="3042050"/>
            <a:ext cx="1290032" cy="451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2400" spc="-300"/>
              <a:t>핵심 흐름</a:t>
            </a:r>
            <a:endParaRPr lang="ko-KR" altLang="en-US" sz="2400" spc="-300"/>
          </a:p>
        </p:txBody>
      </p:sp>
      <p:sp>
        <p:nvSpPr>
          <p:cNvPr id="11" name="TextBox 10"/>
          <p:cNvSpPr txBox="1"/>
          <p:nvPr/>
        </p:nvSpPr>
        <p:spPr>
          <a:xfrm>
            <a:off x="1609506" y="4212925"/>
            <a:ext cx="38183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2400" b="1"/>
              <a:t>3</a:t>
            </a:r>
            <a:endParaRPr lang="ko-KR" altLang="en-US" sz="2400" b="1"/>
          </a:p>
        </p:txBody>
      </p:sp>
      <p:sp>
        <p:nvSpPr>
          <p:cNvPr id="12" name="TextBox 11"/>
          <p:cNvSpPr txBox="1"/>
          <p:nvPr/>
        </p:nvSpPr>
        <p:spPr>
          <a:xfrm>
            <a:off x="2725708" y="4212925"/>
            <a:ext cx="72805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2400" spc="-300"/>
              <a:t>보안</a:t>
            </a:r>
            <a:endParaRPr lang="ko-KR" altLang="en-US" sz="2400" spc="-300"/>
          </a:p>
        </p:txBody>
      </p:sp>
      <p:sp>
        <p:nvSpPr>
          <p:cNvPr id="13" name="TextBox 12"/>
          <p:cNvSpPr txBox="1"/>
          <p:nvPr/>
        </p:nvSpPr>
        <p:spPr>
          <a:xfrm>
            <a:off x="1604698" y="5383800"/>
            <a:ext cx="386644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2400" b="1"/>
              <a:t>4</a:t>
            </a:r>
            <a:endParaRPr lang="ko-KR" altLang="en-US" sz="2400" b="1"/>
          </a:p>
        </p:txBody>
      </p:sp>
      <p:sp>
        <p:nvSpPr>
          <p:cNvPr id="14" name="TextBox 13"/>
          <p:cNvSpPr txBox="1"/>
          <p:nvPr/>
        </p:nvSpPr>
        <p:spPr>
          <a:xfrm>
            <a:off x="2725708" y="5383800"/>
            <a:ext cx="149958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2400" spc="-300"/>
              <a:t>프론트엔드</a:t>
            </a:r>
            <a:endParaRPr lang="ko-KR" altLang="en-US" sz="2400" spc="-300"/>
          </a:p>
        </p:txBody>
      </p:sp>
      <p:sp>
        <p:nvSpPr>
          <p:cNvPr id="19" name="TextBox 18"/>
          <p:cNvSpPr txBox="1"/>
          <p:nvPr/>
        </p:nvSpPr>
        <p:spPr>
          <a:xfrm>
            <a:off x="1058842" y="559043"/>
            <a:ext cx="19078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200">
                <a:solidFill>
                  <a:schemeClr val="bg1"/>
                </a:solidFill>
              </a:rPr>
              <a:t>a table of contents</a:t>
            </a:r>
            <a:endParaRPr lang="ko-KR" altLang="en-US" sz="120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"/>
          <p:cNvGraphicFramePr>
            <a:graphicFrameLocks noGrp="1"/>
          </p:cNvGraphicFramePr>
          <p:nvPr/>
        </p:nvGraphicFramePr>
        <p:xfrm>
          <a:off x="946838" y="1449977"/>
          <a:ext cx="10298323" cy="3958044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5143393"/>
                <a:gridCol w="5154930"/>
              </a:tblGrid>
              <a:tr h="534968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/>
                        <a:t>분류</a:t>
                      </a: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/>
                        <a:t>사용 기술 및 도구</a:t>
                      </a:r>
                      <a:endParaRPr lang="ko-KR" altLang="en-US"/>
                    </a:p>
                  </a:txBody>
                  <a:tcPr marL="91440" marR="91440"/>
                </a:tc>
              </a:tr>
              <a:tr h="534968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/>
                        <a:t>LLM</a:t>
                      </a:r>
                      <a:endParaRPr lang="en-US" altLang="ko-KR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/>
                        <a:t>ChatGPT</a:t>
                      </a:r>
                      <a:endParaRPr lang="ko-KR" altLang="en-US"/>
                    </a:p>
                  </a:txBody>
                  <a:tcPr marL="91440" marR="91440"/>
                </a:tc>
              </a:tr>
              <a:tr h="534968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/>
                        <a:t>토큰 표준</a:t>
                      </a: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/>
                        <a:t>ERC-20</a:t>
                      </a:r>
                      <a:endParaRPr lang="en-US" altLang="ko-KR"/>
                    </a:p>
                  </a:txBody>
                  <a:tcPr marL="91440" marR="91440"/>
                </a:tc>
              </a:tr>
              <a:tr h="534968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/>
                        <a:t>API/라이브러리</a:t>
                      </a:r>
                      <a:endParaRPr lang="en-US" altLang="ko-KR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/>
                        <a:t>ethers.js, MetaMask, Etherscan 링크/조회</a:t>
                      </a:r>
                      <a:endParaRPr lang="en-US" altLang="ko-KR"/>
                    </a:p>
                  </a:txBody>
                  <a:tcPr marL="91440" marR="91440"/>
                </a:tc>
              </a:tr>
              <a:tr h="530388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/>
                        <a:t>데이터 출처</a:t>
                      </a: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/>
                        <a:t>스마트컨트랙트에 저장된 후원 기록, Proposal, 투표 결과, 토큰 잔액</a:t>
                      </a:r>
                      <a:endParaRPr lang="en-US" altLang="ko-KR"/>
                    </a:p>
                  </a:txBody>
                  <a:tcPr marL="91440" marR="91440"/>
                </a:tc>
              </a:tr>
              <a:tr h="530388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/>
                        <a:t>결과물 표시 방식</a:t>
                      </a:r>
                      <a:endParaRPr lang="en-US" altLang="ko-KR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/>
                        <a:t>HTML/JS 프론트엔드에서 후원, Proposal 조회, 투표, 상태, 랭킹 표시</a:t>
                      </a:r>
                      <a:endParaRPr lang="en-US" altLang="ko-KR"/>
                    </a:p>
                  </a:txBody>
                  <a:tcPr marL="91440" marR="91440"/>
                </a:tc>
              </a:tr>
              <a:tr h="530388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/>
                        <a:t>구현 환경</a:t>
                      </a:r>
                      <a:endParaRPr lang="en-US" altLang="ko-KR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/>
                        <a:t>Solidity, Remix, Sepolia 테스트넷</a:t>
                      </a:r>
                      <a:endParaRPr lang="en-US" altLang="ko-KR"/>
                    </a:p>
                  </a:txBody>
                  <a:tcPr marL="91440" marR="91440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/>
          <p:cNvSpPr/>
          <p:nvPr/>
        </p:nvSpPr>
        <p:spPr>
          <a:xfrm>
            <a:off x="363448" y="335362"/>
            <a:ext cx="1152086" cy="479503"/>
          </a:xfrm>
          <a:prstGeom prst="roundRect">
            <a:avLst>
              <a:gd name="adj" fmla="val 3609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1718718" y="335362"/>
            <a:ext cx="27772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endParaRPr lang="ko-KR" altLang="en-US" sz="2400" b="1" spc="-15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6634" y="375058"/>
            <a:ext cx="74571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ko-KR" sz="2000" b="1" spc="-150">
                <a:solidFill>
                  <a:schemeClr val="bg1"/>
                </a:solidFill>
              </a:rPr>
              <a:t>Part</a:t>
            </a:r>
            <a:r>
              <a:rPr lang="ko-KR" altLang="en-US" sz="2000" b="1" spc="-150">
                <a:solidFill>
                  <a:schemeClr val="bg1"/>
                </a:solidFill>
              </a:rPr>
              <a:t> </a:t>
            </a:r>
            <a:r>
              <a:rPr lang="en-US" altLang="ko-KR" sz="2000" b="1" spc="-150">
                <a:solidFill>
                  <a:schemeClr val="bg1"/>
                </a:solidFill>
              </a:rPr>
              <a:t>1</a:t>
            </a:r>
            <a:endParaRPr lang="ko-KR" altLang="en-US" sz="2000" b="1" spc="-150">
              <a:solidFill>
                <a:schemeClr val="bg1"/>
              </a:solidFill>
            </a:endParaRPr>
          </a:p>
        </p:txBody>
      </p:sp>
      <p:sp>
        <p:nvSpPr>
          <p:cNvPr id="2" name="사각형: 둥근 모서리 1"/>
          <p:cNvSpPr/>
          <p:nvPr/>
        </p:nvSpPr>
        <p:spPr>
          <a:xfrm>
            <a:off x="1965480" y="1460811"/>
            <a:ext cx="3245005" cy="4795024"/>
          </a:xfrm>
          <a:prstGeom prst="roundRect">
            <a:avLst>
              <a:gd name="adj" fmla="val 16667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7" name="사각형: 둥근 모서리 6"/>
          <p:cNvSpPr/>
          <p:nvPr/>
        </p:nvSpPr>
        <p:spPr>
          <a:xfrm>
            <a:off x="7304684" y="1460811"/>
            <a:ext cx="3245005" cy="4795024"/>
          </a:xfrm>
          <a:prstGeom prst="roundRect">
            <a:avLst>
              <a:gd name="adj" fmla="val 16667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0" name="사각형: 둥근 모서리 9"/>
          <p:cNvSpPr/>
          <p:nvPr/>
        </p:nvSpPr>
        <p:spPr>
          <a:xfrm>
            <a:off x="2351232" y="1784194"/>
            <a:ext cx="2495085" cy="50180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2" name="사각형: 둥근 모서리 11"/>
          <p:cNvSpPr/>
          <p:nvPr/>
        </p:nvSpPr>
        <p:spPr>
          <a:xfrm>
            <a:off x="7733643" y="1784194"/>
            <a:ext cx="2495085" cy="50180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2282326" y="1850430"/>
            <a:ext cx="25069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b="1"/>
              <a:t>기존에 구현했던 </a:t>
            </a:r>
            <a:r>
              <a:rPr lang="en-US" altLang="ko-KR" b="1"/>
              <a:t>DApp</a:t>
            </a:r>
            <a:endParaRPr lang="en-US" altLang="ko-KR" b="1"/>
          </a:p>
        </p:txBody>
      </p:sp>
      <p:sp>
        <p:nvSpPr>
          <p:cNvPr id="16" name="TextBox 15"/>
          <p:cNvSpPr txBox="1"/>
          <p:nvPr/>
        </p:nvSpPr>
        <p:spPr>
          <a:xfrm>
            <a:off x="7757159" y="1844853"/>
            <a:ext cx="224980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ko-KR" altLang="en-US" b="1"/>
              <a:t>해결 방향</a:t>
            </a:r>
            <a:r>
              <a:rPr lang="en-US" altLang="ko-KR" b="1"/>
              <a:t>,</a:t>
            </a:r>
            <a:r>
              <a:rPr lang="ko-KR" altLang="en-US" b="1"/>
              <a:t> 추가 내용</a:t>
            </a:r>
            <a:endParaRPr lang="ko-KR" altLang="en-US" b="1"/>
          </a:p>
        </p:txBody>
      </p:sp>
      <p:cxnSp>
        <p:nvCxnSpPr>
          <p:cNvPr id="20" name="직선 화살표 연결선 19"/>
          <p:cNvCxnSpPr/>
          <p:nvPr/>
        </p:nvCxnSpPr>
        <p:spPr>
          <a:xfrm>
            <a:off x="4922384" y="3880622"/>
            <a:ext cx="25345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4"/>
          <p:cNvSpPr txBox="1"/>
          <p:nvPr/>
        </p:nvSpPr>
        <p:spPr>
          <a:xfrm>
            <a:off x="1718718" y="335362"/>
            <a:ext cx="3411447" cy="461665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2400" b="1" i="0" u="none" strike="noStrike" kern="1200" cap="none" spc="-150" normalizeH="0" baseline="0" mc:Ignorable="hp" hp:hslEmbossed="0">
                <a:solidFill>
                  <a:srgbClr val="2c2a2a"/>
                </a:solidFill>
                <a:latin typeface="Pretendard"/>
                <a:ea typeface="Pretendard"/>
                <a:cs typeface="Pretendard"/>
              </a:rPr>
              <a:t>왜 만드는가</a:t>
            </a:r>
            <a:r>
              <a:rPr xmlns:mc="http://schemas.openxmlformats.org/markup-compatibility/2006" xmlns:hp="http://schemas.haansoft.com/office/presentation/8.0" kumimoji="0" lang="en-US" altLang="ko-KR" sz="2400" b="1" i="0" u="none" strike="noStrike" kern="1200" cap="none" spc="-150" normalizeH="0" baseline="0" mc:Ignorable="hp" hp:hslEmbossed="0">
                <a:solidFill>
                  <a:srgbClr val="2c2a2a"/>
                </a:solidFill>
                <a:latin typeface="Pretendard"/>
                <a:ea typeface="Pretendard"/>
                <a:cs typeface="Pretendard"/>
              </a:rPr>
              <a:t>?</a:t>
            </a:r>
            <a:r>
              <a:rPr xmlns:mc="http://schemas.openxmlformats.org/markup-compatibility/2006" xmlns:hp="http://schemas.haansoft.com/office/presentation/8.0" kumimoji="0" lang="ko-KR" altLang="en-US" sz="2400" b="1" i="0" u="none" strike="noStrike" kern="1200" cap="none" spc="-150" normalizeH="0" baseline="0" mc:Ignorable="hp" hp:hslEmbossed="0">
                <a:solidFill>
                  <a:srgbClr val="2c2a2a"/>
                </a:solidFill>
                <a:latin typeface="Pretendard"/>
                <a:ea typeface="Pretendard"/>
                <a:cs typeface="Pretendard"/>
              </a:rPr>
              <a:t> 에 대한 동기</a:t>
            </a:r>
            <a:endParaRPr xmlns:mc="http://schemas.openxmlformats.org/markup-compatibility/2006" xmlns:hp="http://schemas.haansoft.com/office/presentation/8.0" kumimoji="0" lang="ko-KR" altLang="en-US" sz="2400" b="1" i="0" u="none" strike="noStrike" kern="1200" cap="none" spc="-150" normalizeH="0" baseline="0" mc:Ignorable="hp" hp:hslEmbossed="0">
              <a:solidFill>
                <a:srgbClr val="2c2a2a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2" name="TextBox 13"/>
          <p:cNvSpPr txBox="1"/>
          <p:nvPr/>
        </p:nvSpPr>
        <p:spPr>
          <a:xfrm>
            <a:off x="2289810" y="2615832"/>
            <a:ext cx="2583180" cy="3635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ko-KR" b="1"/>
              <a:t>-</a:t>
            </a:r>
            <a:r>
              <a:rPr lang="ko-KR" altLang="en-US" b="1"/>
              <a:t> 사용자 </a:t>
            </a:r>
            <a:r>
              <a:rPr lang="en-US" altLang="ko-KR" b="1"/>
              <a:t>-&gt;</a:t>
            </a:r>
            <a:r>
              <a:rPr lang="ko-KR" altLang="en-US" b="1"/>
              <a:t> 후원 </a:t>
            </a:r>
            <a:r>
              <a:rPr lang="en-US" altLang="ko-KR" b="1"/>
              <a:t>-&gt;</a:t>
            </a:r>
            <a:r>
              <a:rPr lang="ko-KR" altLang="en-US" b="1"/>
              <a:t> 종료</a:t>
            </a:r>
            <a:endParaRPr lang="ko-KR" altLang="en-US" b="1"/>
          </a:p>
        </p:txBody>
      </p:sp>
      <p:sp>
        <p:nvSpPr>
          <p:cNvPr id="23" name="TextBox 13"/>
          <p:cNvSpPr txBox="1"/>
          <p:nvPr/>
        </p:nvSpPr>
        <p:spPr>
          <a:xfrm>
            <a:off x="2137410" y="5163910"/>
            <a:ext cx="3059430" cy="3586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ko-KR" b="1"/>
              <a:t>-</a:t>
            </a:r>
            <a:r>
              <a:rPr lang="ko-KR" altLang="en-US" b="1"/>
              <a:t> 후원 이후 활용 과정 불투명</a:t>
            </a:r>
            <a:endParaRPr lang="ko-KR" altLang="en-US" b="1"/>
          </a:p>
        </p:txBody>
      </p:sp>
      <p:sp>
        <p:nvSpPr>
          <p:cNvPr id="24" name="TextBox 13"/>
          <p:cNvSpPr txBox="1"/>
          <p:nvPr/>
        </p:nvSpPr>
        <p:spPr>
          <a:xfrm>
            <a:off x="2680335" y="4262436"/>
            <a:ext cx="1821180" cy="3620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ko-KR" b="1"/>
              <a:t>-</a:t>
            </a:r>
            <a:r>
              <a:rPr lang="ko-KR" altLang="en-US" b="1"/>
              <a:t> 참여 요소 부족</a:t>
            </a:r>
            <a:endParaRPr lang="ko-KR" altLang="en-US" b="1"/>
          </a:p>
        </p:txBody>
      </p:sp>
      <p:sp>
        <p:nvSpPr>
          <p:cNvPr id="25" name="TextBox 13"/>
          <p:cNvSpPr txBox="1"/>
          <p:nvPr/>
        </p:nvSpPr>
        <p:spPr>
          <a:xfrm>
            <a:off x="7461883" y="2428734"/>
            <a:ext cx="2735582" cy="63981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ko-KR" b="1"/>
              <a:t>-</a:t>
            </a:r>
            <a:r>
              <a:rPr lang="ko-KR" altLang="en-US" b="1"/>
              <a:t> 후원자 참여형 구조 추가</a:t>
            </a:r>
            <a:br>
              <a:rPr lang="ko-KR" altLang="en-US" b="1"/>
            </a:br>
            <a:r>
              <a:rPr lang="en-US" altLang="ko-KR" b="1"/>
              <a:t>(Proposal </a:t>
            </a:r>
            <a:r>
              <a:rPr lang="ko-KR" altLang="en-US" b="1"/>
              <a:t>생성</a:t>
            </a:r>
            <a:r>
              <a:rPr lang="en-US" altLang="ko-KR" b="1"/>
              <a:t>,</a:t>
            </a:r>
            <a:r>
              <a:rPr lang="ko-KR" altLang="en-US" b="1"/>
              <a:t> 투표</a:t>
            </a:r>
            <a:r>
              <a:rPr lang="en-US" altLang="ko-KR" b="1"/>
              <a:t>)</a:t>
            </a:r>
            <a:endParaRPr lang="en-US" altLang="ko-KR" b="1"/>
          </a:p>
        </p:txBody>
      </p:sp>
      <p:sp>
        <p:nvSpPr>
          <p:cNvPr id="26" name="TextBox 13"/>
          <p:cNvSpPr txBox="1"/>
          <p:nvPr/>
        </p:nvSpPr>
        <p:spPr>
          <a:xfrm>
            <a:off x="7280909" y="3187065"/>
            <a:ext cx="3209790" cy="6362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b="1"/>
              <a:t>-</a:t>
            </a:r>
            <a:r>
              <a:rPr lang="ko-KR" altLang="en-US" b="1"/>
              <a:t> </a:t>
            </a:r>
            <a:r>
              <a:rPr lang="en-US" altLang="ko-KR" b="1"/>
              <a:t>DAO</a:t>
            </a:r>
            <a:r>
              <a:rPr lang="ko-KR" altLang="en-US" b="1"/>
              <a:t>의 일부 개념 사용하는 구조로 확장</a:t>
            </a:r>
            <a:endParaRPr lang="ko-KR" altLang="en-US" b="1"/>
          </a:p>
        </p:txBody>
      </p:sp>
      <p:sp>
        <p:nvSpPr>
          <p:cNvPr id="27" name="TextBox 13"/>
          <p:cNvSpPr txBox="1"/>
          <p:nvPr/>
        </p:nvSpPr>
        <p:spPr>
          <a:xfrm>
            <a:off x="7966710" y="4993820"/>
            <a:ext cx="1821180" cy="3620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ko-KR" b="1"/>
              <a:t>-</a:t>
            </a:r>
            <a:r>
              <a:rPr lang="ko-KR" altLang="en-US" b="1"/>
              <a:t> 보안 요소 추가</a:t>
            </a:r>
            <a:endParaRPr lang="ko-KR" altLang="en-US" b="1"/>
          </a:p>
        </p:txBody>
      </p:sp>
      <p:sp>
        <p:nvSpPr>
          <p:cNvPr id="28" name="TextBox 13"/>
          <p:cNvSpPr txBox="1"/>
          <p:nvPr/>
        </p:nvSpPr>
        <p:spPr>
          <a:xfrm>
            <a:off x="2823210" y="3429000"/>
            <a:ext cx="1535430" cy="3620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ko-KR" b="1"/>
              <a:t>-</a:t>
            </a:r>
            <a:r>
              <a:rPr lang="ko-KR" altLang="en-US" b="1"/>
              <a:t> 단방형 구조</a:t>
            </a:r>
            <a:endParaRPr lang="ko-KR" altLang="en-US" b="1"/>
          </a:p>
        </p:txBody>
      </p:sp>
      <p:sp>
        <p:nvSpPr>
          <p:cNvPr id="29" name="TextBox 13"/>
          <p:cNvSpPr txBox="1"/>
          <p:nvPr/>
        </p:nvSpPr>
        <p:spPr>
          <a:xfrm>
            <a:off x="7297917" y="5508307"/>
            <a:ext cx="3209790" cy="635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b="1"/>
              <a:t>-</a:t>
            </a:r>
            <a:r>
              <a:rPr lang="ko-KR" altLang="en-US" b="1"/>
              <a:t> </a:t>
            </a:r>
            <a:r>
              <a:rPr lang="en-US" altLang="ko-KR" b="1"/>
              <a:t>Proposal </a:t>
            </a:r>
            <a:r>
              <a:rPr lang="ko-KR" altLang="en-US" b="1"/>
              <a:t>기반 자금 집행 </a:t>
            </a:r>
            <a:br>
              <a:rPr lang="ko-KR" altLang="en-US" b="1"/>
            </a:br>
            <a:r>
              <a:rPr lang="ko-KR" altLang="en-US" b="1"/>
              <a:t>구조 추가</a:t>
            </a:r>
            <a:endParaRPr lang="ko-KR" altLang="en-US" b="1"/>
          </a:p>
        </p:txBody>
      </p:sp>
      <p:sp>
        <p:nvSpPr>
          <p:cNvPr id="30" name="TextBox 13"/>
          <p:cNvSpPr txBox="1"/>
          <p:nvPr/>
        </p:nvSpPr>
        <p:spPr>
          <a:xfrm>
            <a:off x="7280909" y="3973285"/>
            <a:ext cx="3209790" cy="9084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b="1"/>
              <a:t>-</a:t>
            </a:r>
            <a:r>
              <a:rPr lang="ko-KR" altLang="en-US" b="1"/>
              <a:t> 후원금 사용 목적에 따라</a:t>
            </a:r>
            <a:br>
              <a:rPr lang="ko-KR" altLang="en-US" b="1"/>
            </a:br>
            <a:r>
              <a:rPr lang="ko-KR" altLang="en-US" b="1"/>
              <a:t>일반 후원과 </a:t>
            </a:r>
            <a:r>
              <a:rPr lang="en-US" altLang="ko-KR" b="1"/>
              <a:t>Proposal</a:t>
            </a:r>
            <a:r>
              <a:rPr lang="ko-KR" altLang="en-US" b="1"/>
              <a:t> 전용</a:t>
            </a:r>
            <a:br>
              <a:rPr lang="ko-KR" altLang="en-US" b="1"/>
            </a:br>
            <a:r>
              <a:rPr lang="ko-KR" altLang="en-US" b="1"/>
              <a:t>후원 분리</a:t>
            </a:r>
            <a:endParaRPr lang="ko-KR" altLang="en-US" b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/>
          <p:cNvSpPr/>
          <p:nvPr/>
        </p:nvSpPr>
        <p:spPr>
          <a:xfrm>
            <a:off x="363448" y="335362"/>
            <a:ext cx="1152086" cy="479503"/>
          </a:xfrm>
          <a:prstGeom prst="roundRect">
            <a:avLst>
              <a:gd name="adj" fmla="val 3609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1718718" y="335362"/>
            <a:ext cx="139214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2400" b="1" spc="-150">
                <a:solidFill>
                  <a:schemeClr val="tx1">
                    <a:lumMod val="75000"/>
                  </a:schemeClr>
                </a:solidFill>
              </a:rPr>
              <a:t>핵심 흐름</a:t>
            </a:r>
            <a:endParaRPr lang="ko-KR" altLang="en-US" sz="2400" b="1" spc="-15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198" y="375058"/>
            <a:ext cx="78258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ko-KR" sz="2000" b="1" spc="-150">
                <a:solidFill>
                  <a:schemeClr val="bg1"/>
                </a:solidFill>
              </a:rPr>
              <a:t>Part</a:t>
            </a:r>
            <a:r>
              <a:rPr lang="ko-KR" altLang="en-US" sz="2000" b="1" spc="-150">
                <a:solidFill>
                  <a:schemeClr val="bg1"/>
                </a:solidFill>
              </a:rPr>
              <a:t> </a:t>
            </a:r>
            <a:r>
              <a:rPr lang="en-US" altLang="ko-KR" sz="2000" b="1" spc="-150">
                <a:solidFill>
                  <a:schemeClr val="bg1"/>
                </a:solidFill>
              </a:rPr>
              <a:t>2</a:t>
            </a:r>
            <a:endParaRPr lang="ko-KR" altLang="en-US" sz="2000" b="1" spc="-150">
              <a:solidFill>
                <a:schemeClr val="bg1"/>
              </a:solidFill>
            </a:endParaRPr>
          </a:p>
        </p:txBody>
      </p:sp>
      <p:pic>
        <p:nvPicPr>
          <p:cNvPr id="222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622774"/>
            <a:ext cx="8615151" cy="6222052"/>
          </a:xfrm>
          <a:prstGeom prst="rect">
            <a:avLst/>
          </a:prstGeom>
        </p:spPr>
      </p:pic>
      <p:sp>
        <p:nvSpPr>
          <p:cNvPr id="223" name=""/>
          <p:cNvSpPr txBox="1"/>
          <p:nvPr/>
        </p:nvSpPr>
        <p:spPr>
          <a:xfrm>
            <a:off x="8494258" y="1316302"/>
            <a:ext cx="3697742" cy="4472991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en-US" altLang="ko-KR"/>
              <a:t>1.</a:t>
            </a:r>
            <a:r>
              <a:rPr lang="ko-KR" altLang="en-US"/>
              <a:t> </a:t>
            </a:r>
            <a:r>
              <a:rPr lang="en-US" altLang="ko-KR"/>
              <a:t>MetaMask</a:t>
            </a:r>
            <a:r>
              <a:rPr lang="ko-KR" altLang="en-US"/>
              <a:t> 연결 및 후원</a:t>
            </a:r>
            <a:endParaRPr lang="ko-KR" altLang="en-US"/>
          </a:p>
          <a:p>
            <a:pPr>
              <a:defRPr/>
            </a:pPr>
            <a:r>
              <a:rPr lang="en-US" altLang="ko-KR"/>
              <a:t>2.</a:t>
            </a:r>
            <a:r>
              <a:rPr lang="ko-KR" altLang="en-US"/>
              <a:t> 일반 후원 </a:t>
            </a:r>
            <a:r>
              <a:rPr lang="en-US" altLang="ko-KR"/>
              <a:t>/</a:t>
            </a:r>
            <a:r>
              <a:rPr lang="ko-KR" altLang="en-US"/>
              <a:t> </a:t>
            </a:r>
            <a:r>
              <a:rPr lang="en-US" altLang="ko-KR"/>
              <a:t>Proposal</a:t>
            </a:r>
            <a:r>
              <a:rPr lang="ko-KR" altLang="en-US"/>
              <a:t> 전용 </a:t>
            </a:r>
            <a:br>
              <a:rPr lang="ko-KR" altLang="en-US"/>
            </a:br>
            <a:r>
              <a:rPr lang="ko-KR" altLang="en-US"/>
              <a:t>    후원 선택</a:t>
            </a:r>
            <a:endParaRPr lang="ko-KR" altLang="en-US"/>
          </a:p>
          <a:p>
            <a:pPr>
              <a:defRPr/>
            </a:pPr>
            <a:r>
              <a:rPr lang="en-US" altLang="ko-KR"/>
              <a:t>3.</a:t>
            </a:r>
            <a:r>
              <a:rPr lang="ko-KR" altLang="en-US"/>
              <a:t> 후원 기록 저장 및 토큰 지급</a:t>
            </a:r>
            <a:endParaRPr lang="ko-KR" altLang="en-US"/>
          </a:p>
          <a:p>
            <a:pPr>
              <a:defRPr/>
            </a:pPr>
            <a:r>
              <a:rPr lang="en-US" altLang="ko-KR"/>
              <a:t>4.</a:t>
            </a:r>
            <a:r>
              <a:rPr lang="ko-KR" altLang="en-US"/>
              <a:t> 누적 후원 기반 </a:t>
            </a:r>
            <a:r>
              <a:rPr lang="en-US" altLang="ko-KR"/>
              <a:t>VIP</a:t>
            </a:r>
            <a:r>
              <a:rPr lang="ko-KR" altLang="en-US"/>
              <a:t> 판별</a:t>
            </a:r>
            <a:endParaRPr lang="ko-KR" altLang="en-US"/>
          </a:p>
          <a:p>
            <a:pPr>
              <a:defRPr/>
            </a:pPr>
            <a:r>
              <a:rPr lang="en-US" altLang="ko-KR"/>
              <a:t>5.</a:t>
            </a:r>
            <a:r>
              <a:rPr lang="ko-KR" altLang="en-US"/>
              <a:t> </a:t>
            </a:r>
            <a:r>
              <a:rPr lang="en-US" altLang="ko-KR"/>
              <a:t>VIP</a:t>
            </a:r>
            <a:r>
              <a:rPr lang="ko-KR" altLang="en-US"/>
              <a:t> </a:t>
            </a:r>
            <a:r>
              <a:rPr lang="en-US" altLang="ko-KR"/>
              <a:t>+</a:t>
            </a:r>
            <a:r>
              <a:rPr lang="ko-KR" altLang="en-US"/>
              <a:t> </a:t>
            </a:r>
            <a:r>
              <a:rPr lang="en-US" altLang="ko-KR"/>
              <a:t>10</a:t>
            </a:r>
            <a:r>
              <a:rPr lang="ko-KR" altLang="en-US"/>
              <a:t> </a:t>
            </a:r>
            <a:r>
              <a:rPr lang="en-US" altLang="ko-KR"/>
              <a:t>CoffeeToken </a:t>
            </a:r>
            <a:r>
              <a:rPr lang="ko-KR" altLang="en-US"/>
              <a:t>사용 </a:t>
            </a:r>
            <a:br>
              <a:rPr lang="en-US" altLang="ko-KR"/>
            </a:br>
            <a:r>
              <a:rPr lang="en-US" altLang="ko-KR"/>
              <a:t>    Proposal</a:t>
            </a:r>
            <a:r>
              <a:rPr lang="ko-KR" altLang="en-US"/>
              <a:t> 생성</a:t>
            </a:r>
            <a:endParaRPr lang="ko-KR" altLang="en-US"/>
          </a:p>
          <a:p>
            <a:pPr>
              <a:defRPr/>
            </a:pPr>
            <a:r>
              <a:rPr lang="en-US" altLang="ko-KR"/>
              <a:t>6.</a:t>
            </a:r>
            <a:r>
              <a:rPr lang="ko-KR" altLang="en-US"/>
              <a:t> </a:t>
            </a:r>
            <a:r>
              <a:rPr lang="en-US" altLang="ko-KR"/>
              <a:t>Proposal </a:t>
            </a:r>
            <a:r>
              <a:rPr lang="ko-KR" altLang="en-US"/>
              <a:t>상태</a:t>
            </a:r>
            <a:endParaRPr lang="ko-KR" altLang="en-US"/>
          </a:p>
          <a:p>
            <a:pPr>
              <a:defRPr/>
            </a:pPr>
            <a:r>
              <a:rPr lang="en-US" altLang="ko-KR"/>
              <a:t>7.</a:t>
            </a:r>
            <a:r>
              <a:rPr lang="ko-KR" altLang="en-US"/>
              <a:t> </a:t>
            </a:r>
            <a:r>
              <a:rPr lang="en-US" altLang="ko-KR"/>
              <a:t>Proposal</a:t>
            </a:r>
            <a:r>
              <a:rPr lang="ko-KR" altLang="en-US"/>
              <a:t> 상태 관리</a:t>
            </a:r>
            <a:endParaRPr lang="ko-KR" altLang="en-US"/>
          </a:p>
          <a:p>
            <a:pPr>
              <a:defRPr/>
            </a:pPr>
            <a:r>
              <a:rPr lang="en-US" altLang="ko-KR"/>
              <a:t>8.</a:t>
            </a:r>
            <a:r>
              <a:rPr lang="ko-KR" altLang="en-US"/>
              <a:t> 통과 및 실행된 </a:t>
            </a:r>
            <a:r>
              <a:rPr lang="en-US" altLang="ko-KR"/>
              <a:t>Proposal</a:t>
            </a:r>
            <a:r>
              <a:rPr lang="ko-KR" altLang="en-US"/>
              <a:t> 기반 </a:t>
            </a:r>
            <a:br>
              <a:rPr lang="ko-KR" altLang="en-US"/>
            </a:br>
            <a:r>
              <a:rPr lang="ko-KR" altLang="en-US"/>
              <a:t>    자급 집행제안 실행</a:t>
            </a:r>
            <a:endParaRPr lang="ko-KR" altLang="en-US"/>
          </a:p>
          <a:p>
            <a:pPr>
              <a:defRPr/>
            </a:pPr>
            <a:r>
              <a:rPr lang="en-US" altLang="ko-KR"/>
              <a:t>* </a:t>
            </a:r>
            <a:r>
              <a:rPr lang="ko-KR" altLang="en-US"/>
              <a:t>일반 후원금 </a:t>
            </a:r>
            <a:r>
              <a:rPr lang="en-US" altLang="ko-KR"/>
              <a:t>:</a:t>
            </a:r>
            <a:r>
              <a:rPr lang="ko-KR" altLang="en-US"/>
              <a:t> </a:t>
            </a:r>
            <a:r>
              <a:rPr lang="en-US" altLang="ko-KR"/>
              <a:t>owner</a:t>
            </a:r>
            <a:r>
              <a:rPr lang="ko-KR" altLang="en-US"/>
              <a:t>가 직접 </a:t>
            </a:r>
            <a:endParaRPr lang="ko-KR" altLang="en-US"/>
          </a:p>
          <a:p>
            <a:pPr>
              <a:defRPr/>
            </a:pPr>
            <a:r>
              <a:rPr lang="ko-KR" altLang="en-US"/>
              <a:t>  출금 가능</a:t>
            </a:r>
            <a:endParaRPr lang="ko-KR" altLang="en-US"/>
          </a:p>
          <a:p>
            <a:pPr>
              <a:defRPr/>
            </a:pPr>
            <a:r>
              <a:rPr lang="en-US" altLang="ko-KR"/>
              <a:t>*</a:t>
            </a:r>
            <a:r>
              <a:rPr lang="ko-KR" altLang="en-US"/>
              <a:t> </a:t>
            </a:r>
            <a:r>
              <a:rPr lang="en-US" altLang="ko-KR"/>
              <a:t>Proposal</a:t>
            </a:r>
            <a:r>
              <a:rPr lang="ko-KR" altLang="en-US"/>
              <a:t> 전용 후원금 </a:t>
            </a:r>
            <a:endParaRPr lang="en-US" altLang="ko-KR"/>
          </a:p>
          <a:p>
            <a:pPr>
              <a:defRPr/>
            </a:pPr>
            <a:r>
              <a:rPr lang="ko-KR" altLang="en-US"/>
              <a:t> </a:t>
            </a:r>
            <a:r>
              <a:rPr lang="en-US" altLang="ko-KR"/>
              <a:t>:</a:t>
            </a:r>
            <a:r>
              <a:rPr lang="ko-KR" altLang="en-US"/>
              <a:t> 실행 완료된 </a:t>
            </a:r>
            <a:r>
              <a:rPr lang="en-US" altLang="ko-KR"/>
              <a:t>Proposal</a:t>
            </a:r>
            <a:r>
              <a:rPr lang="ko-KR" altLang="en-US"/>
              <a:t>이 있어야 </a:t>
            </a:r>
            <a:endParaRPr lang="ko-KR" altLang="en-US"/>
          </a:p>
          <a:p>
            <a:pPr>
              <a:defRPr/>
            </a:pPr>
            <a:r>
              <a:rPr lang="ko-KR" altLang="en-US"/>
              <a:t>   출금 가능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/>
          <p:cNvSpPr/>
          <p:nvPr/>
        </p:nvSpPr>
        <p:spPr>
          <a:xfrm>
            <a:off x="363448" y="335362"/>
            <a:ext cx="1152086" cy="479503"/>
          </a:xfrm>
          <a:prstGeom prst="roundRect">
            <a:avLst>
              <a:gd name="adj" fmla="val 3609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1718718" y="335362"/>
            <a:ext cx="77302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2400" b="1" spc="-150">
                <a:solidFill>
                  <a:schemeClr val="tx1">
                    <a:lumMod val="75000"/>
                  </a:schemeClr>
                </a:solidFill>
              </a:rPr>
              <a:t>보안</a:t>
            </a:r>
            <a:endParaRPr lang="ko-KR" altLang="en-US" sz="2400" b="1" spc="-15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27685" y="375058"/>
            <a:ext cx="81153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ko-KR" sz="2000" b="1" spc="-150">
                <a:solidFill>
                  <a:schemeClr val="bg1"/>
                </a:solidFill>
              </a:rPr>
              <a:t>Part</a:t>
            </a:r>
            <a:r>
              <a:rPr lang="ko-KR" altLang="en-US" sz="2000" b="1" spc="-150">
                <a:solidFill>
                  <a:schemeClr val="bg1"/>
                </a:solidFill>
              </a:rPr>
              <a:t> </a:t>
            </a:r>
            <a:r>
              <a:rPr lang="en-US" altLang="ko-KR" sz="2000" b="1" spc="-150">
                <a:solidFill>
                  <a:schemeClr val="bg1"/>
                </a:solidFill>
              </a:rPr>
              <a:t>3</a:t>
            </a:r>
            <a:endParaRPr lang="en-US" altLang="ko-KR" sz="2000" b="1" spc="-150">
              <a:solidFill>
                <a:schemeClr val="bg1"/>
              </a:solidFill>
            </a:endParaRPr>
          </a:p>
        </p:txBody>
      </p:sp>
      <p:sp>
        <p:nvSpPr>
          <p:cNvPr id="223" name=""/>
          <p:cNvSpPr txBox="1"/>
          <p:nvPr/>
        </p:nvSpPr>
        <p:spPr>
          <a:xfrm>
            <a:off x="8426223" y="2421884"/>
            <a:ext cx="3765777" cy="2014232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ko-KR" altLang="en-US"/>
              <a:t>1. The DAO Hack 기반 </a:t>
            </a:r>
            <a:br>
              <a:rPr lang="ko-KR" altLang="en-US"/>
            </a:br>
            <a:r>
              <a:rPr lang="ko-KR" altLang="en-US"/>
              <a:t>    Reentrancy 대응</a:t>
            </a:r>
            <a:endParaRPr lang="ko-KR" altLang="en-US"/>
          </a:p>
          <a:p>
            <a:pPr>
              <a:defRPr/>
            </a:pPr>
            <a:r>
              <a:rPr lang="ko-KR" altLang="en-US"/>
              <a:t>2. CEI 패턴 적용</a:t>
            </a:r>
            <a:endParaRPr lang="ko-KR" altLang="en-US"/>
          </a:p>
          <a:p>
            <a:pPr>
              <a:defRPr/>
            </a:pPr>
            <a:r>
              <a:rPr lang="ko-KR" altLang="en-US"/>
              <a:t>3. ReentrancyGuard 적용</a:t>
            </a:r>
            <a:endParaRPr lang="ko-KR" altLang="en-US"/>
          </a:p>
          <a:p>
            <a:pPr>
              <a:defRPr/>
            </a:pPr>
            <a:r>
              <a:rPr lang="ko-KR" altLang="en-US"/>
              <a:t>4. onlyOwner 기반 접근 제어</a:t>
            </a:r>
            <a:endParaRPr lang="ko-KR" altLang="en-US"/>
          </a:p>
          <a:p>
            <a:pPr>
              <a:defRPr/>
            </a:pPr>
            <a:r>
              <a:rPr lang="ko-KR" altLang="en-US"/>
              <a:t>5. 중복 투표 방지</a:t>
            </a:r>
            <a:endParaRPr lang="ko-KR" altLang="en-US"/>
          </a:p>
          <a:p>
            <a:pPr>
              <a:defRPr/>
            </a:pPr>
            <a:r>
              <a:rPr lang="ko-KR" altLang="en-US"/>
              <a:t>6. Proposal 상태 검증</a:t>
            </a:r>
            <a:endParaRPr lang="ko-KR" altLang="en-US"/>
          </a:p>
        </p:txBody>
      </p:sp>
      <p:pic>
        <p:nvPicPr>
          <p:cNvPr id="225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425223"/>
            <a:ext cx="9403129" cy="64327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/>
          <p:cNvSpPr/>
          <p:nvPr/>
        </p:nvSpPr>
        <p:spPr>
          <a:xfrm>
            <a:off x="363448" y="335362"/>
            <a:ext cx="1152086" cy="479503"/>
          </a:xfrm>
          <a:prstGeom prst="roundRect">
            <a:avLst>
              <a:gd name="adj" fmla="val 3609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1718718" y="335362"/>
            <a:ext cx="160169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2400" b="1" spc="-150">
                <a:solidFill>
                  <a:schemeClr val="tx1">
                    <a:lumMod val="75000"/>
                  </a:schemeClr>
                </a:solidFill>
              </a:rPr>
              <a:t>프론트엔드</a:t>
            </a:r>
            <a:endParaRPr lang="ko-KR" altLang="en-US" sz="2400" b="1" spc="-15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27685" y="375058"/>
            <a:ext cx="81153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ko-KR" sz="2000" b="1" spc="-150">
                <a:solidFill>
                  <a:schemeClr val="bg1"/>
                </a:solidFill>
              </a:rPr>
              <a:t>Part</a:t>
            </a:r>
            <a:r>
              <a:rPr lang="ko-KR" altLang="en-US" sz="2000" b="1" spc="-150">
                <a:solidFill>
                  <a:schemeClr val="bg1"/>
                </a:solidFill>
              </a:rPr>
              <a:t> </a:t>
            </a:r>
            <a:r>
              <a:rPr lang="en-US" altLang="ko-KR" sz="2000" b="1" spc="-150">
                <a:solidFill>
                  <a:schemeClr val="bg1"/>
                </a:solidFill>
              </a:rPr>
              <a:t>4</a:t>
            </a:r>
            <a:endParaRPr lang="en-US" altLang="ko-KR" sz="2000" b="1" spc="-150">
              <a:solidFill>
                <a:schemeClr val="bg1"/>
              </a:solidFill>
            </a:endParaRPr>
          </a:p>
        </p:txBody>
      </p:sp>
      <p:pic>
        <p:nvPicPr>
          <p:cNvPr id="226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9334192" cy="6858000"/>
          </a:xfrm>
          <a:prstGeom prst="rect">
            <a:avLst/>
          </a:prstGeom>
        </p:spPr>
      </p:pic>
      <p:sp>
        <p:nvSpPr>
          <p:cNvPr id="227" name=""/>
          <p:cNvSpPr txBox="1"/>
          <p:nvPr/>
        </p:nvSpPr>
        <p:spPr>
          <a:xfrm>
            <a:off x="8774906" y="2825183"/>
            <a:ext cx="3417094" cy="3106987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en-US" altLang="ko-KR"/>
              <a:t>MetaMask </a:t>
            </a:r>
            <a:r>
              <a:rPr lang="ko-KR" altLang="en-US"/>
              <a:t>연결</a:t>
            </a:r>
            <a:endParaRPr lang="ko-KR" altLang="en-US"/>
          </a:p>
          <a:p>
            <a:pPr>
              <a:defRPr/>
            </a:pPr>
            <a:r>
              <a:rPr lang="en-US" altLang="ko-KR"/>
              <a:t>-&gt;</a:t>
            </a:r>
            <a:r>
              <a:rPr lang="ko-KR" altLang="en-US"/>
              <a:t> </a:t>
            </a:r>
            <a:r>
              <a:rPr lang="en-US" altLang="ko-KR"/>
              <a:t>Smart Contract </a:t>
            </a:r>
            <a:r>
              <a:rPr lang="ko-KR" altLang="en-US"/>
              <a:t>호출</a:t>
            </a:r>
            <a:endParaRPr lang="ko-KR" altLang="en-US"/>
          </a:p>
          <a:p>
            <a:pPr>
              <a:defRPr/>
            </a:pPr>
            <a:r>
              <a:rPr lang="en-US" altLang="ko-KR"/>
              <a:t>-&gt;</a:t>
            </a:r>
            <a:r>
              <a:rPr lang="ko-KR" altLang="en-US"/>
              <a:t> 실시간 상태 조회 및 투표 </a:t>
            </a:r>
            <a:br>
              <a:rPr lang="ko-KR" altLang="en-US"/>
            </a:br>
            <a:r>
              <a:rPr lang="ko-KR" altLang="en-US"/>
              <a:t>     기능 제공</a:t>
            </a:r>
            <a:endParaRPr lang="ko-KR" altLang="en-US"/>
          </a:p>
          <a:p>
            <a:pPr>
              <a:defRPr/>
            </a:pPr>
            <a:endParaRPr lang="en-US" altLang="ko-KR"/>
          </a:p>
          <a:p>
            <a:pPr>
              <a:defRPr/>
            </a:pPr>
            <a:r>
              <a:rPr lang="en-US" altLang="ko-KR"/>
              <a:t>-</a:t>
            </a:r>
            <a:r>
              <a:rPr lang="ko-KR" altLang="en-US"/>
              <a:t> 일반후원</a:t>
            </a:r>
            <a:r>
              <a:rPr lang="en-US" altLang="ko-KR"/>
              <a:t>/Proposal</a:t>
            </a:r>
            <a:r>
              <a:rPr lang="ko-KR" altLang="en-US"/>
              <a:t> 전용 후원 </a:t>
            </a:r>
            <a:endParaRPr lang="en-US" altLang="ko-KR"/>
          </a:p>
          <a:p>
            <a:pPr>
              <a:defRPr/>
            </a:pPr>
            <a:r>
              <a:rPr lang="ko-KR" altLang="en-US"/>
              <a:t>  </a:t>
            </a:r>
            <a:r>
              <a:rPr lang="en-US" altLang="ko-KR"/>
              <a:t>UI</a:t>
            </a:r>
            <a:r>
              <a:rPr lang="ko-KR" altLang="en-US"/>
              <a:t> 관리</a:t>
            </a:r>
            <a:endParaRPr lang="ko-KR" altLang="en-US"/>
          </a:p>
          <a:p>
            <a:pPr>
              <a:defRPr/>
            </a:pPr>
            <a:r>
              <a:rPr lang="en-US" altLang="ko-KR"/>
              <a:t>-</a:t>
            </a:r>
            <a:r>
              <a:rPr lang="ko-KR" altLang="en-US"/>
              <a:t> 후원 로그 및 </a:t>
            </a:r>
            <a:r>
              <a:rPr lang="en-US" altLang="ko-KR"/>
              <a:t>Proposal</a:t>
            </a:r>
            <a:r>
              <a:rPr lang="ko-KR" altLang="en-US"/>
              <a:t> 상태 </a:t>
            </a:r>
            <a:endParaRPr lang="ko-KR" altLang="en-US"/>
          </a:p>
          <a:p>
            <a:pPr>
              <a:defRPr/>
            </a:pPr>
            <a:r>
              <a:rPr lang="ko-KR" altLang="en-US"/>
              <a:t>  실시간 표시</a:t>
            </a:r>
            <a:endParaRPr lang="ko-KR" altLang="en-US"/>
          </a:p>
          <a:p>
            <a:pPr>
              <a:defRPr/>
            </a:pPr>
            <a:r>
              <a:rPr lang="en-US" altLang="ko-KR"/>
              <a:t>-</a:t>
            </a:r>
            <a:r>
              <a:rPr lang="ko-KR" altLang="en-US"/>
              <a:t> </a:t>
            </a:r>
            <a:r>
              <a:rPr lang="en-US" altLang="ko-KR"/>
              <a:t>Proposal</a:t>
            </a:r>
            <a:r>
              <a:rPr lang="ko-KR" altLang="en-US"/>
              <a:t> 전용 자금 상태 확인 </a:t>
            </a:r>
            <a:endParaRPr lang="ko-KR" altLang="en-US"/>
          </a:p>
          <a:p>
            <a:pPr>
              <a:defRPr/>
            </a:pPr>
            <a:r>
              <a:rPr lang="ko-KR" altLang="en-US"/>
              <a:t>  가능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9F0FC4F5-EC45-29CD-6320-BBA01AE4F45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0BE0B2E8-6EED-02A4-D334-A477241D0FA3}"/>
              </a:ext>
            </a:extLst>
          </p:cNvPr>
          <p:cNvSpPr/>
          <p:nvPr/>
        </p:nvSpPr>
        <p:spPr>
          <a:xfrm>
            <a:off x="3876907" y="2920581"/>
            <a:ext cx="4438186" cy="10593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41A7F5-4BA9-765E-1807-7E93A431E5EF}"/>
              </a:ext>
            </a:extLst>
          </p:cNvPr>
          <p:cNvSpPr txBox="1"/>
          <p:nvPr/>
        </p:nvSpPr>
        <p:spPr>
          <a:xfrm>
            <a:off x="4893587" y="3107472"/>
            <a:ext cx="240482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4000" b="1" dirty="0"/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2458530658"/>
      </p:ext>
    </p:extLst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111 고르곤졸라">
      <a:dk1>
        <a:srgbClr val="3a3838"/>
      </a:dk1>
      <a:lt1>
        <a:srgbClr val="ffffff"/>
      </a:lt1>
      <a:dk2>
        <a:srgbClr val="5d5b5b"/>
      </a:dk2>
      <a:lt2>
        <a:srgbClr val="f2f2f2"/>
      </a:lt2>
      <a:accent1>
        <a:srgbClr val="5f5f5d"/>
      </a:accent1>
      <a:accent2>
        <a:srgbClr val="7c7c7a"/>
      </a:accent2>
      <a:accent3>
        <a:srgbClr val="beb7b1"/>
      </a:accent3>
      <a:accent4>
        <a:srgbClr val="3d3a35"/>
      </a:accent4>
      <a:accent5>
        <a:srgbClr val="d1c6ae"/>
      </a:accent5>
      <a:accent6>
        <a:srgbClr val="dfd8c7"/>
      </a:accent6>
      <a:hlink>
        <a:srgbClr val="757070"/>
      </a:hlink>
      <a:folHlink>
        <a:srgbClr val="757070"/>
      </a:folHlink>
    </a:clrScheme>
    <a:fontScheme name="12-1">
      <a:majorFont>
        <a:latin typeface="Pretendard ExtraBold"/>
        <a:ea typeface="Pretendard ExtraBold"/>
        <a:cs typeface=""/>
      </a:majorFont>
      <a:minorFont>
        <a:latin typeface="Pretendard"/>
        <a:ea typeface="Pretendard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277</ep:Words>
  <ep:PresentationFormat>와이드스크린</ep:PresentationFormat>
  <ep:Paragraphs>63</ep:Paragraphs>
  <ep:Slides>8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ep:HeadingPairs>
  <ep:TitlesOfParts>
    <vt:vector size="9" baseType="lpstr">
      <vt:lpstr>Office 테마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2022-05-10T00:06:31.000</dcterms:created>
  <dc:creator>Yu Saebyeol</dc:creator>
  <cp:lastModifiedBy>ADMIN</cp:lastModifiedBy>
  <dcterms:modified xsi:type="dcterms:W3CDTF">2026-05-25T12:05:48.165</dcterms:modified>
  <cp:revision>107</cp:revision>
  <dc:title>PowerPoint 프레젠테이션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